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C8C"/>
          </a:solidFill>
          <a:ln>
            <a:solidFill>
              <a:srgbClr val="1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Customer Churn Analysis for Telecom Industry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04C8C"/>
                </a:solidFill>
              </a:defRPr>
            </a:pPr>
            <a:r>
              <a:t>Elevate Labs – Data Analyst Internship</a:t>
            </a:r>
          </a:p>
          <a:p>
            <a:pPr>
              <a:defRPr sz="2000"/>
            </a:pPr>
            <a:r>
              <a:t>Prepared by: Goury Surendran</a:t>
            </a:r>
          </a:p>
          <a:p>
            <a:pPr>
              <a:defRPr sz="2000"/>
            </a:pPr>
            <a:r>
              <a:t>College of Engineering Kottarakkara</a:t>
            </a:r>
          </a:p>
          <a:p>
            <a:pPr>
              <a:defRPr sz="2000"/>
            </a:pPr>
            <a:r>
              <a:t>Tools: Python • SQL • Pandas • Scikit-learn • SHAP • Matplotlib •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C8C"/>
          </a:solidFill>
          <a:ln>
            <a:solidFill>
              <a:srgbClr val="1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Customer churn impacts telecom revenue and customer retention.</a:t>
            </a:r>
          </a:p>
          <a:p>
            <a:pPr>
              <a:defRPr sz="2200"/>
            </a:pPr>
            <a:r>
              <a:t>• Analyze customer behaviour using historical data.</a:t>
            </a:r>
          </a:p>
          <a:p>
            <a:pPr>
              <a:defRPr sz="2200"/>
            </a:pPr>
            <a:r>
              <a:t>• Identify key churn factors and provide actionable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C8C"/>
          </a:solidFill>
          <a:ln>
            <a:solidFill>
              <a:srgbClr val="1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Clean and preprocess telecom data</a:t>
            </a:r>
          </a:p>
          <a:p>
            <a:pPr>
              <a:defRPr sz="2200"/>
            </a:pPr>
            <a:r>
              <a:t>• Perform exploratory data analysis</a:t>
            </a:r>
          </a:p>
          <a:p>
            <a:pPr>
              <a:defRPr sz="2200"/>
            </a:pPr>
            <a:r>
              <a:t>• Build and evaluate machine learning models</a:t>
            </a:r>
          </a:p>
          <a:p>
            <a:pPr>
              <a:defRPr sz="2200"/>
            </a:pPr>
            <a:r>
              <a:t>• Use SQL for business analysis</a:t>
            </a:r>
          </a:p>
          <a:p>
            <a:pPr>
              <a:defRPr sz="2200"/>
            </a:pPr>
            <a:r>
              <a:t>• Generate customer segments and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C8C"/>
          </a:solidFill>
          <a:ln>
            <a:solidFill>
              <a:srgbClr val="1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IBM Telco Customer Churn Dataset</a:t>
            </a:r>
          </a:p>
          <a:p>
            <a:pPr>
              <a:defRPr sz="2200"/>
            </a:pPr>
            <a:r>
              <a:t>• 7043 records and 21 features</a:t>
            </a:r>
          </a:p>
          <a:p>
            <a:pPr>
              <a:defRPr sz="2200"/>
            </a:pPr>
            <a:r>
              <a:t>• Target variable: Churn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C8C"/>
          </a:solidFill>
          <a:ln>
            <a:solidFill>
              <a:srgbClr val="1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Churn Distribution</a:t>
            </a:r>
          </a:p>
        </p:txBody>
      </p:sp>
      <p:pic>
        <p:nvPicPr>
          <p:cNvPr id="3" name="Picture 2" descr="chur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8046720" cy="38557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778240" y="914400"/>
            <a:ext cx="2743200" cy="5029200"/>
          </a:xfrm>
          <a:prstGeom prst="roundRect">
            <a:avLst/>
          </a:prstGeom>
          <a:solidFill>
            <a:srgbClr val="F3F7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Key Insight</a:t>
            </a:r>
          </a:p>
          <a:p>
            <a:pPr>
              <a:defRPr sz="1800"/>
            </a:pPr>
            <a:r>
              <a:t>Most customers remained with the company.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C8C"/>
          </a:solidFill>
          <a:ln>
            <a:solidFill>
              <a:srgbClr val="1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Contract vs Churn</a:t>
            </a:r>
          </a:p>
        </p:txBody>
      </p:sp>
      <p:pic>
        <p:nvPicPr>
          <p:cNvPr id="3" name="Picture 2" descr="contract_vs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8046720" cy="387667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778240" y="914400"/>
            <a:ext cx="2743200" cy="5029200"/>
          </a:xfrm>
          <a:prstGeom prst="roundRect">
            <a:avLst/>
          </a:prstGeom>
          <a:solidFill>
            <a:srgbClr val="F3F7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Key Insight</a:t>
            </a:r>
          </a:p>
          <a:p>
            <a:pPr>
              <a:defRPr sz="1800"/>
            </a:pPr>
            <a:r>
              <a:t>Month-to-month customers have the highest churn.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C8C"/>
          </a:solidFill>
          <a:ln>
            <a:solidFill>
              <a:srgbClr val="1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Monthly Charges Distribution</a:t>
            </a:r>
          </a:p>
        </p:txBody>
      </p:sp>
      <p:pic>
        <p:nvPicPr>
          <p:cNvPr id="3" name="Picture 2" descr="monthly_charge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8046720" cy="38557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778240" y="914400"/>
            <a:ext cx="2743200" cy="5029200"/>
          </a:xfrm>
          <a:prstGeom prst="roundRect">
            <a:avLst/>
          </a:prstGeom>
          <a:solidFill>
            <a:srgbClr val="F3F7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Key Insight</a:t>
            </a:r>
          </a:p>
          <a:p>
            <a:pPr>
              <a:defRPr sz="1800"/>
            </a:pPr>
            <a:r>
              <a:t>Subscription charges vary widely.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C8C"/>
          </a:solidFill>
          <a:ln>
            <a:solidFill>
              <a:srgbClr val="1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Feature Importance</a:t>
            </a:r>
          </a:p>
        </p:txBody>
      </p:sp>
      <p:pic>
        <p:nvPicPr>
          <p:cNvPr id="3" name="Picture 2" descr="feature_importanc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8046720" cy="385991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778240" y="914400"/>
            <a:ext cx="2743200" cy="5029200"/>
          </a:xfrm>
          <a:prstGeom prst="roundRect">
            <a:avLst/>
          </a:prstGeom>
          <a:solidFill>
            <a:srgbClr val="F3F7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Key Insight</a:t>
            </a:r>
          </a:p>
          <a:p>
            <a:pPr>
              <a:defRPr sz="1800"/>
            </a:pPr>
            <a:r>
              <a:t>Contract and tenure are the strongest predictors.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C8C"/>
          </a:solidFill>
          <a:ln>
            <a:solidFill>
              <a:srgbClr val="1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SHAP Explainability</a:t>
            </a:r>
          </a:p>
        </p:txBody>
      </p:sp>
      <p:pic>
        <p:nvPicPr>
          <p:cNvPr id="3" name="Picture 2" descr="## SHAP Summary 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8046720" cy="453523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778240" y="914400"/>
            <a:ext cx="2743200" cy="5029200"/>
          </a:xfrm>
          <a:prstGeom prst="roundRect">
            <a:avLst/>
          </a:prstGeom>
          <a:solidFill>
            <a:srgbClr val="F3F7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Key Insight</a:t>
            </a:r>
          </a:p>
          <a:p>
            <a:pPr>
              <a:defRPr sz="1800"/>
            </a:pPr>
            <a:r>
              <a:t>SHAP explains how features influence predictions.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C8C"/>
          </a:solidFill>
          <a:ln>
            <a:solidFill>
              <a:srgbClr val="1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Model Comparison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8046720" cy="168478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778240" y="914400"/>
            <a:ext cx="2743200" cy="5029200"/>
          </a:xfrm>
          <a:prstGeom prst="roundRect">
            <a:avLst/>
          </a:prstGeom>
          <a:solidFill>
            <a:srgbClr val="F3F7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Key Insight</a:t>
            </a:r>
          </a:p>
          <a:p>
            <a:pPr>
              <a:defRPr sz="1800"/>
            </a:pPr>
            <a:r>
              <a:t>Random Forest achieved the best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C8C"/>
          </a:solidFill>
          <a:ln>
            <a:solidFill>
              <a:srgbClr val="1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SQL Analysis</a:t>
            </a:r>
          </a:p>
        </p:txBody>
      </p:sp>
      <p:pic>
        <p:nvPicPr>
          <p:cNvPr id="3" name="Picture 2" descr="sql_query1_total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8046720" cy="399641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778240" y="914400"/>
            <a:ext cx="2743200" cy="5029200"/>
          </a:xfrm>
          <a:prstGeom prst="roundRect">
            <a:avLst/>
          </a:prstGeom>
          <a:solidFill>
            <a:srgbClr val="F3F7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Key Insight</a:t>
            </a:r>
          </a:p>
          <a:p>
            <a:pPr>
              <a:defRPr sz="1800"/>
            </a:pPr>
            <a:r>
              <a:t>SQL validated key business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C8C"/>
          </a:solidFill>
          <a:ln>
            <a:solidFill>
              <a:srgbClr val="1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Customer Segmentation</a:t>
            </a:r>
          </a:p>
        </p:txBody>
      </p:sp>
      <p:pic>
        <p:nvPicPr>
          <p:cNvPr id="3" name="Picture 2" descr="customer_segments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8046720" cy="58067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778240" y="914400"/>
            <a:ext cx="2743200" cy="5029200"/>
          </a:xfrm>
          <a:prstGeom prst="roundRect">
            <a:avLst/>
          </a:prstGeom>
          <a:solidFill>
            <a:srgbClr val="F3F7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Key Insight</a:t>
            </a:r>
          </a:p>
          <a:p>
            <a:pPr>
              <a:defRPr sz="1800"/>
            </a:pPr>
            <a:r>
              <a:t>Customers segmented into Loyal, At Risk and Dormant.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C8C"/>
          </a:solidFill>
          <a:ln>
            <a:solidFill>
              <a:srgbClr val="1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Promote long-term contracts.</a:t>
            </a:r>
          </a:p>
          <a:p>
            <a:pPr>
              <a:defRPr sz="2200"/>
            </a:pPr>
            <a:r>
              <a:t>• Target at-risk customers with retention offers.</a:t>
            </a:r>
          </a:p>
          <a:p>
            <a:pPr>
              <a:defRPr sz="2200"/>
            </a:pPr>
            <a:r>
              <a:t>• Strengthen technical support services.</a:t>
            </a:r>
          </a:p>
          <a:p>
            <a:pPr>
              <a:defRPr sz="2200"/>
            </a:pPr>
            <a:r>
              <a:t>• Monitor churn continuously using predictive analytics.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C8C"/>
          </a:solidFill>
          <a:ln>
            <a:solidFill>
              <a:srgbClr val="1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Combined Python, SQL and machine learning to analyze churn.</a:t>
            </a:r>
          </a:p>
          <a:p>
            <a:pPr>
              <a:defRPr sz="2200"/>
            </a:pPr>
            <a:r>
              <a:t>• Generated business insights and customer segments.</a:t>
            </a:r>
          </a:p>
          <a:p>
            <a:pPr>
              <a:defRPr sz="2200"/>
            </a:pPr>
            <a:r>
              <a:t>• Project demonstrates practical data analytics skills.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04C8C"/>
          </a:solidFill>
          <a:ln>
            <a:solidFill>
              <a:srgbClr val="1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