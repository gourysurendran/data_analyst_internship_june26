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4400" b="1">
                <a:solidFill>
                  <a:srgbClr val="FFFFFF"/>
                </a:solidFill>
                <a:latin typeface="Arial"/>
              </a:defRPr>
            </a:pPr>
            <a:r>
              <a:t>Retail Business Performance &amp;</a:t>
            </a:r>
            <a:br/>
            <a:r>
              <a:t>Profitability Analysis</a:t>
            </a:r>
          </a:p>
          <a:p>
            <a:pPr>
              <a:defRPr sz="1800">
                <a:solidFill>
                  <a:srgbClr val="3B82F6"/>
                </a:solidFill>
                <a:latin typeface="Arial"/>
              </a:defRPr>
            </a:pPr>
            <a:r>
              <a:t>Data Analyst Internship Portfolio | Elevate Labs Submission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E293B"/>
                </a:solidFill>
                <a:latin typeface="Arial"/>
              </a:defRPr>
            </a:pPr>
            <a:r>
              <a:t>Executive Summary: Business Performance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789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E293B"/>
                </a:solidFill>
                <a:latin typeface="Arial"/>
              </a:defRPr>
            </a:pPr>
            <a:r>
              <a:t>This report evaluates sales transaction performance and margins across 2.5 years of operations (2024-2026). The project is built to identify core margin leakages and outline database-backed performance improvements.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926080"/>
            <a:ext cx="2468880" cy="20116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0"/>
              </a:spcAft>
              <a:defRPr sz="1100" b="1">
                <a:solidFill>
                  <a:srgbClr val="64748B"/>
                </a:solidFill>
              </a:defRPr>
            </a:pPr>
            <a:r>
              <a:t>TOTAL SALES</a:t>
            </a:r>
          </a:p>
          <a:p>
            <a:pPr>
              <a:defRPr sz="2800" b="1">
                <a:solidFill>
                  <a:srgbClr val="3B82F6"/>
                </a:solidFill>
              </a:defRPr>
            </a:pPr>
            <a:r>
              <a:t>$5,893,177.94</a:t>
            </a:r>
          </a:p>
        </p:txBody>
      </p:sp>
      <p:sp>
        <p:nvSpPr>
          <p:cNvPr id="5" name="Rectangle 4"/>
          <p:cNvSpPr/>
          <p:nvPr/>
        </p:nvSpPr>
        <p:spPr>
          <a:xfrm>
            <a:off x="3429000" y="2926080"/>
            <a:ext cx="2468880" cy="20116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0"/>
              </a:spcAft>
              <a:defRPr sz="1100" b="1">
                <a:solidFill>
                  <a:srgbClr val="64748B"/>
                </a:solidFill>
              </a:defRPr>
            </a:pPr>
            <a:r>
              <a:t>TOTAL PROFIT</a:t>
            </a:r>
          </a:p>
          <a:p>
            <a:pPr>
              <a:defRPr sz="2800" b="1">
                <a:solidFill>
                  <a:srgbClr val="10B981"/>
                </a:solidFill>
              </a:defRPr>
            </a:pPr>
            <a:r>
              <a:t>$1,717,433.48</a:t>
            </a:r>
          </a:p>
        </p:txBody>
      </p:sp>
      <p:sp>
        <p:nvSpPr>
          <p:cNvPr id="6" name="Rectangle 5"/>
          <p:cNvSpPr/>
          <p:nvPr/>
        </p:nvSpPr>
        <p:spPr>
          <a:xfrm>
            <a:off x="6172200" y="2926080"/>
            <a:ext cx="2468880" cy="20116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0"/>
              </a:spcAft>
              <a:defRPr sz="1100" b="1">
                <a:solidFill>
                  <a:srgbClr val="64748B"/>
                </a:solidFill>
              </a:defRPr>
            </a:pPr>
            <a:r>
              <a:t>PROFIT MARGIN</a:t>
            </a:r>
          </a:p>
          <a:p>
            <a:pPr>
              <a:defRPr sz="2800" b="1">
                <a:solidFill>
                  <a:srgbClr val="059669"/>
                </a:solidFill>
              </a:defRPr>
            </a:pPr>
            <a:r>
              <a:t>29.14%</a:t>
            </a:r>
          </a:p>
        </p:txBody>
      </p:sp>
      <p:sp>
        <p:nvSpPr>
          <p:cNvPr id="7" name="Rectangle 6"/>
          <p:cNvSpPr/>
          <p:nvPr/>
        </p:nvSpPr>
        <p:spPr>
          <a:xfrm>
            <a:off x="8915400" y="2926080"/>
            <a:ext cx="2468880" cy="20116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0"/>
              </a:spcAft>
              <a:defRPr sz="1100" b="1">
                <a:solidFill>
                  <a:srgbClr val="64748B"/>
                </a:solidFill>
              </a:defRPr>
            </a:pPr>
            <a:r>
              <a:t>TOTAL ORDERS</a:t>
            </a:r>
          </a:p>
          <a:p>
            <a:pPr>
              <a:defRPr sz="2800" b="1">
                <a:solidFill>
                  <a:srgbClr val="1E293B"/>
                </a:solidFill>
              </a:defRPr>
            </a:pPr>
            <a:r>
              <a:t>5,494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Regional Performance &amp; Unprofitable State Focus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E293B"/>
                </a:solidFill>
              </a:defRPr>
            </a:pPr>
            <a:r>
              <a:t>Geographical Breakdown &amp; Sales Drivers</a:t>
            </a:r>
          </a:p>
          <a:p>
            <a:pPr>
              <a:spcAft>
                <a:spcPts val="800"/>
              </a:spcAft>
              <a:defRPr sz="1400"/>
            </a:pPr>
            <a:r>
              <a:t>• West Region: Sales of $1,529,336 | Profit margin: 31.7%</a:t>
            </a:r>
          </a:p>
          <a:p>
            <a:pPr>
              <a:spcAft>
                <a:spcPts val="800"/>
              </a:spcAft>
              <a:defRPr sz="1400"/>
            </a:pPr>
            <a:r>
              <a:t>• South Region: Sales of $1,487,439 | Profit margin: 32.5%</a:t>
            </a:r>
          </a:p>
          <a:p>
            <a:pPr>
              <a:spcAft>
                <a:spcPts val="800"/>
              </a:spcAft>
              <a:defRPr sz="1400"/>
            </a:pPr>
            <a:r>
              <a:t>• Central Region: Sales of $1,453,801 | Profit margin: 23.9%</a:t>
            </a:r>
          </a:p>
          <a:p>
            <a:pPr>
              <a:spcAft>
                <a:spcPts val="800"/>
              </a:spcAft>
              <a:defRPr sz="1400"/>
            </a:pPr>
            <a:r>
              <a:t>• East Region: Sales of $1,422,602 | Profit margin: 28.2%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EF4444"/>
                </a:solidFill>
              </a:defRPr>
            </a:pPr>
            <a:r>
              <a:t>Top Loss-Making States</a:t>
            </a:r>
          </a:p>
          <a:p>
            <a:pPr>
              <a:spcBef>
                <a:spcPts val="1500"/>
              </a:spcBef>
              <a:defRPr sz="1100" i="1">
                <a:solidFill>
                  <a:srgbClr val="64748B"/>
                </a:solidFill>
              </a:defRPr>
            </a:pPr>
            <a:r>
              <a:t>Note: Loss-making states exhibit average discount rates exceeding 25%, indicating that aggressive price promotion is hurting structural profitability.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Line Health: Top Stars &amp; Margin Leaks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789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293B"/>
                </a:solidFill>
              </a:defRPr>
            </a:pPr>
            <a:r>
              <a:t>Product categories reflect high variance. Technology leads profitability, while Furniture contains critical bleed areas (Tables &amp; Bookcases).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0B981"/>
                </a:solidFill>
              </a:defRPr>
            </a:pPr>
            <a:r>
              <a:t>Star Product Lines (Highest Profit)</a:t>
            </a:r>
          </a:p>
          <a:p>
            <a:pPr>
              <a:spcAft>
                <a:spcPts val="600"/>
              </a:spcAft>
              <a:defRPr sz="1300"/>
            </a:pPr>
            <a:r>
              <a:t>• Copier Model-C3... (Copiers): +$74,095</a:t>
            </a:r>
          </a:p>
          <a:p>
            <a:pPr>
              <a:spcAft>
                <a:spcPts val="600"/>
              </a:spcAft>
              <a:defRPr sz="1300"/>
            </a:pPr>
            <a:r>
              <a:t>• Copier Model-N14... (Copiers): +$70,710</a:t>
            </a:r>
          </a:p>
          <a:p>
            <a:pPr>
              <a:spcAft>
                <a:spcPts val="600"/>
              </a:spcAft>
              <a:defRPr sz="1300"/>
            </a:pPr>
            <a:r>
              <a:t>• Copier Model-H8... (Copiers): +$66,499</a:t>
            </a:r>
          </a:p>
          <a:p>
            <a:pPr>
              <a:spcAft>
                <a:spcPts val="600"/>
              </a:spcAft>
              <a:defRPr sz="1300"/>
            </a:pPr>
            <a:r>
              <a:t>• Copier Model-G7... (Copiers): +$64,891</a:t>
            </a:r>
          </a:p>
          <a:p>
            <a:pPr>
              <a:spcAft>
                <a:spcPts val="600"/>
              </a:spcAft>
              <a:defRPr sz="1300"/>
            </a:pPr>
            <a:r>
              <a:t>• Copier Model-L12... (Copiers): +$61,939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256032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EF4444"/>
                </a:solidFill>
              </a:defRPr>
            </a:pPr>
            <a:r>
              <a:t>Margin Leaks (Highest Net Loss)</a:t>
            </a:r>
          </a:p>
          <a:p>
            <a:pPr>
              <a:spcAft>
                <a:spcPts val="600"/>
              </a:spcAft>
              <a:defRPr sz="1300"/>
            </a:pPr>
            <a:r>
              <a:t>• Table Model-N14... (Tables): -$11,879</a:t>
            </a:r>
          </a:p>
          <a:p>
            <a:pPr>
              <a:spcAft>
                <a:spcPts val="600"/>
              </a:spcAft>
              <a:defRPr sz="1300"/>
            </a:pPr>
            <a:r>
              <a:t>• Table Model-C3... (Tables): -$10,883</a:t>
            </a:r>
          </a:p>
          <a:p>
            <a:pPr>
              <a:spcAft>
                <a:spcPts val="600"/>
              </a:spcAft>
              <a:defRPr sz="1300"/>
            </a:pPr>
            <a:r>
              <a:t>• Table Model-O15... (Tables): -$10,091</a:t>
            </a:r>
          </a:p>
          <a:p>
            <a:pPr>
              <a:spcAft>
                <a:spcPts val="600"/>
              </a:spcAft>
              <a:defRPr sz="1300"/>
            </a:pPr>
            <a:r>
              <a:t>• Table Model-F6... (Tables): -$9,365</a:t>
            </a:r>
          </a:p>
          <a:p>
            <a:pPr>
              <a:spcAft>
                <a:spcPts val="600"/>
              </a:spcAft>
              <a:defRPr sz="1300"/>
            </a:pPr>
            <a:r>
              <a:t>• Table Model-G7... (Tables): -$8,218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Analytics: 5 Key Business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b="1" sz="1400">
                <a:solidFill>
                  <a:srgbClr val="1E293B"/>
                </a:solidFill>
              </a:defRPr>
            </a:pPr>
            <a:r>
              <a:t>• 1. Holiday Purchase Climax: </a:t>
            </a:r>
            <a:r>
              <a:rPr b="0" sz="1400">
                <a:solidFill>
                  <a:srgbClr val="64748B"/>
                </a:solidFill>
              </a:rPr>
              <a:t>November and December generate 30% of total revenue. Planning inventory and logistical capability is critical for Q3.</a:t>
            </a:r>
          </a:p>
          <a:p>
            <a:pPr>
              <a:spcAft>
                <a:spcPts val="1000"/>
              </a:spcAft>
              <a:defRPr b="1" sz="1400">
                <a:solidFill>
                  <a:srgbClr val="1E293B"/>
                </a:solidFill>
              </a:defRPr>
            </a:pPr>
            <a:r>
              <a:t>• 2. The Discounting Penalty: </a:t>
            </a:r>
            <a:r>
              <a:rPr b="0" sz="1400">
                <a:solidFill>
                  <a:srgbClr val="64748B"/>
                </a:solidFill>
              </a:rPr>
              <a:t>Any transactional discount exceeding 20% drops profitability below breakeven. Promos at 50% scale serve as complete loss operations.</a:t>
            </a:r>
          </a:p>
          <a:p>
            <a:pPr>
              <a:spcAft>
                <a:spcPts val="1000"/>
              </a:spcAft>
              <a:defRPr b="1" sz="1400">
                <a:solidFill>
                  <a:srgbClr val="1E293B"/>
                </a:solidFill>
              </a:defRPr>
            </a:pPr>
            <a:r>
              <a:t>• 3. Tables and Bookcases Overhead: </a:t>
            </a:r>
            <a:r>
              <a:rPr b="0" sz="1400">
                <a:solidFill>
                  <a:srgbClr val="64748B"/>
                </a:solidFill>
              </a:rPr>
              <a:t>Tables and bookcases are highly unprofitable across all segments due to bulky size driving high shipping costs combined with high discounts.</a:t>
            </a:r>
          </a:p>
          <a:p>
            <a:pPr>
              <a:spcAft>
                <a:spcPts val="1000"/>
              </a:spcAft>
              <a:defRPr b="1" sz="1400">
                <a:solidFill>
                  <a:srgbClr val="1E293B"/>
                </a:solidFill>
              </a:defRPr>
            </a:pPr>
            <a:r>
              <a:t>• 4. Customer Concentration Risk: </a:t>
            </a:r>
            <a:r>
              <a:rPr b="0" sz="1400">
                <a:solidFill>
                  <a:srgbClr val="64748B"/>
                </a:solidFill>
              </a:rPr>
              <a:t>The top 10% of customers account for 40% of total revenue. Maintaining satisfaction with these key clients is vital.</a:t>
            </a:r>
          </a:p>
          <a:p>
            <a:pPr>
              <a:spcAft>
                <a:spcPts val="1000"/>
              </a:spcAft>
              <a:defRPr b="1" sz="1400">
                <a:solidFill>
                  <a:srgbClr val="1E293B"/>
                </a:solidFill>
              </a:defRPr>
            </a:pPr>
            <a:r>
              <a:t>• 5. B2B Account Profile Strength: </a:t>
            </a:r>
            <a:r>
              <a:rPr b="0" sz="1400">
                <a:solidFill>
                  <a:srgbClr val="64748B"/>
                </a:solidFill>
              </a:rPr>
              <a:t>Corporate and Home Office clients exhibit 20% higher average order value (AOV) compared to traditional consumer retail baskets.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Actionable Business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b="1" sz="1400">
                <a:solidFill>
                  <a:srgbClr val="3B82F6"/>
                </a:solidFill>
              </a:defRPr>
            </a:pPr>
            <a:r>
              <a:t>• 1. Caps on Furniture Discounts: </a:t>
            </a:r>
            <a:r>
              <a:rPr b="0" sz="1400">
                <a:solidFill>
                  <a:srgbClr val="1E293B"/>
                </a:solidFill>
              </a:rPr>
              <a:t>Enforce a maximum discount cap of 10% on Tables and Bookcases. Limit automated promotions on large inventory lines.</a:t>
            </a:r>
          </a:p>
          <a:p>
            <a:pPr>
              <a:spcAft>
                <a:spcPts val="1200"/>
              </a:spcAft>
              <a:defRPr b="1" sz="1400">
                <a:solidFill>
                  <a:srgbClr val="3B82F6"/>
                </a:solidFill>
              </a:defRPr>
            </a:pPr>
            <a:r>
              <a:t>• 2. Shipping Carrier Negotiations: </a:t>
            </a:r>
            <a:r>
              <a:rPr b="0" sz="1400">
                <a:solidFill>
                  <a:srgbClr val="1E293B"/>
                </a:solidFill>
              </a:rPr>
              <a:t>Renegotiate bulk furniture freight carrier rates to reduce the logistics costs by 15-20%.</a:t>
            </a:r>
          </a:p>
          <a:p>
            <a:pPr>
              <a:spcAft>
                <a:spcPts val="1200"/>
              </a:spcAft>
              <a:defRPr b="1" sz="1400">
                <a:solidFill>
                  <a:srgbClr val="3B82F6"/>
                </a:solidFill>
              </a:defRPr>
            </a:pPr>
            <a:r>
              <a:t>• 3. Regional Pricing Floor in Texas &amp; Ohio: </a:t>
            </a:r>
            <a:r>
              <a:rPr b="0" sz="1400">
                <a:solidFill>
                  <a:srgbClr val="1E293B"/>
                </a:solidFill>
              </a:rPr>
              <a:t>Establish a minimum pricing floor and restrict local managers from running loss-making storewide sales.</a:t>
            </a:r>
          </a:p>
          <a:p>
            <a:pPr>
              <a:spcAft>
                <a:spcPts val="1200"/>
              </a:spcAft>
              <a:defRPr b="1" sz="1400">
                <a:solidFill>
                  <a:srgbClr val="3B82F6"/>
                </a:solidFill>
              </a:defRPr>
            </a:pPr>
            <a:r>
              <a:t>• 4. Remote Work Product Bundling: </a:t>
            </a:r>
            <a:r>
              <a:rPr b="0" sz="1400">
                <a:solidFill>
                  <a:srgbClr val="1E293B"/>
                </a:solidFill>
              </a:rPr>
              <a:t>Bundle high-margin Technology (copiers/phones) with Office Supplies (paper/folders) to upsell Home Office clients.</a:t>
            </a:r>
          </a:p>
          <a:p>
            <a:pPr>
              <a:spcAft>
                <a:spcPts val="1200"/>
              </a:spcAft>
              <a:defRPr b="1" sz="1400">
                <a:solidFill>
                  <a:srgbClr val="3B82F6"/>
                </a:solidFill>
              </a:defRPr>
            </a:pPr>
            <a:r>
              <a:t>• 5. Focus VIP Loyalty Program: </a:t>
            </a:r>
            <a:r>
              <a:rPr b="0" sz="1400">
                <a:solidFill>
                  <a:srgbClr val="1E293B"/>
                </a:solidFill>
              </a:rPr>
              <a:t>Implement a formal customer retention protocol and special corporate pricing agreements for top-tier spenders.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3600" b="1">
                <a:solidFill>
                  <a:srgbClr val="FFFFFF"/>
                </a:solidFill>
              </a:defRPr>
            </a:pPr>
            <a:r>
              <a:t>Retail Business Performance Analytics</a:t>
            </a:r>
          </a:p>
          <a:p>
            <a:pPr>
              <a:spcAft>
                <a:spcPts val="800"/>
              </a:spcAft>
              <a:defRPr sz="1800" b="1">
                <a:solidFill>
                  <a:srgbClr val="3B82F6"/>
                </a:solidFill>
              </a:defRPr>
            </a:pPr>
            <a:r>
              <a:t>Key Portfolio Highlights: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✔ Interactive Dashboards: Built using React &amp; Recharts with dynamic cross-filtering capabilities.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✔ SQL Analytical Core: Evaluated utilizing 15 enterprise-level analytical SQL queries running on SQLite.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✔ Business-Centric Insights: Focuses strictly on business intelligence, cost containment, and pricing strategy.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✔ Modular Stack: FastAPI, SQLite, Pandas, React, and Tailwind CSS.</a:t>
            </a:r>
          </a:p>
          <a:p>
            <a:br/>
            <a:pPr>
              <a:defRPr sz="1600" i="1">
                <a:solidFill>
                  <a:srgbClr val="10B981"/>
                </a:solidFill>
              </a:defRPr>
            </a:pPr>
            <a:r>
              <a:t>Thank You! | Submit for Review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